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Northwind Diagnostics: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Problem: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Our Solution: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Traction: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Market: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Technology and IP: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Financials: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Ask: figures are as of the most recent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Northwind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AI-native pathology for community hospitals</a:t>
            </a:r>
          </a:p>
          <a:p>
            <a:r>
              <a:t>Series A round | San Diego, CA | Founded 2021</a:t>
            </a:r>
          </a:p>
          <a:p>
            <a:r>
              <a:t>www.northwinddx.com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 hospitals wait 9 days for pathology results.</a:t>
            </a:r>
          </a:p>
          <a:p>
            <a:r>
              <a:t>Diagnostic delay drives $4.2B in avoidable annual cost.</a:t>
            </a:r>
          </a:p>
          <a:p>
            <a:r>
              <a:t>62% of rural hospitals have no on-site pathologist.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FDA-cleared digital pathology workflow with automated triage.</a:t>
            </a:r>
          </a:p>
          <a:p>
            <a:r>
              <a:t>Deployed as SaaS on existing scanner hardware.</a:t>
            </a:r>
          </a:p>
          <a:p>
            <a:r>
              <a:t>Gross margin of 78% at current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 of $4.2M, up from $1.6M the prior year.</a:t>
            </a:r>
          </a:p>
          <a:p>
            <a:r>
              <a:t>Revenue growth of 163% year over year.</a:t>
            </a:r>
          </a:p>
          <a:p>
            <a:r>
              <a:t>42 hospital customers under multi-year contracts.</a:t>
            </a:r>
          </a:p>
          <a:p>
            <a:r>
              <a:t>Net revenue retention of 118%.</a:t>
            </a:r>
          </a:p>
          <a:p>
            <a:r>
              <a:t>Recurring revenue is 92% of total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of $18B across US diagnostic pathology.</a:t>
            </a:r>
          </a:p>
          <a:p>
            <a:r>
              <a:t>SAM of $3.2B in community and rural hospital segments.</a:t>
            </a:r>
          </a:p>
          <a:p>
            <a:r>
              <a:t>Market growing 14% annually.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and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issued patents and 4 patent applications pending.</a:t>
            </a:r>
          </a:p>
          <a:p>
            <a:r>
              <a:t>FDA 510(k) clearance granted for the triage module.</a:t>
            </a:r>
          </a:p>
          <a:p>
            <a:r>
              <a:t>Proprietary dataset of 2.1M annotated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burn of $310,000.</a:t>
            </a:r>
          </a:p>
          <a:p>
            <a:r>
              <a:t>Cash on hand of $5.4M.</a:t>
            </a:r>
          </a:p>
          <a:p>
            <a:r>
              <a:t>Runway of 17 months.</a:t>
            </a:r>
          </a:p>
          <a:p>
            <a:r>
              <a:t>Capital raised to date: $11.5M.</a:t>
            </a:r>
          </a:p>
          <a:p>
            <a:r>
              <a:t>Gross margin 78%. EBITDA margin -45%.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$12M Series A.</a:t>
            </a:r>
          </a:p>
          <a:p>
            <a:r>
              <a:t>Top customer represents 11% of revenue.</a:t>
            </a:r>
          </a:p>
          <a:p>
            <a:r>
              <a:t>Use of proceeds: commercial expansion and regulatory submissions.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Financial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$4.2M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